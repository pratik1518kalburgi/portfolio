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46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FE04-CD75-CC19-07EC-2F3A3C64F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7143A-88CB-4F79-72C5-2EEB00F28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EDCE0-D043-B20A-B38E-BAD30CD4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99C58-423C-DE18-E549-3C86A288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94BC8-8CE6-CFED-6B54-A5D98230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712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45ED-5223-A003-0D8F-84633513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CCB1B-5D2A-8004-18AC-ED331EB10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AA264-C621-357D-673D-1FEC67CA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EE7C2-1537-FDA6-BA3F-7775831B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75EC0-9269-28B4-0D7E-0C8204D0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1236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A3CA-3E0A-3C35-E74C-428E5785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BA413-912E-ACB4-681F-4B1B10EF2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23D3-7BEA-920D-A71D-064E0C4B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C52B6-F15C-1589-BEAA-1CC0E2FE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B3B7-5EEA-BE41-DCE6-AA1B4E7E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217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F745-264A-9577-013C-0208FFC9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612D8-5ECF-2240-367C-09C339576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5346E-7DA6-E701-7E9F-212572C94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DF7E2-2E88-87C9-4BA3-3341991F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C6101-767D-B08A-B669-07EED0EE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EE9B8-DE12-7CC0-460F-F8319445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633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E8DF-3AE3-C63E-7D37-3E2CB460B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146DD-7C3B-8791-9B55-E3D12B1B8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06FFC-9916-690A-A2C6-FB0939E95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9EBBF-8437-85B8-C392-725741D98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78BF4-FCBA-1A97-3E55-1BD79DEB4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7D2A7-BFAA-107C-FEF6-CEEFA691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0B8D2-96ED-59D6-AFF9-7DBC8DB6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73F217-3250-DBAE-CD14-03D5E06C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1145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D6EC-238D-4CFF-FC9C-EE61F360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36539-18F8-4F2B-79FE-8FC07761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5803E-8C70-72B1-CF39-0BE0B6B7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B93BC-D567-25A7-34B3-0DBF564B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3532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230275-4DC0-0A6F-0CE8-0D6EE33E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EE309-122B-635B-ACB7-B5E547A5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0C47B-3C17-B381-27D7-52D090A9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1228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8B5D-F5AE-EB8A-7701-398EC4AEC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6805E-80F4-E31C-C43F-657EE7C0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73750-7C16-EF86-239B-AAE1FFC97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B1ED6-7465-9007-DB7A-FFFB24AC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F7B18-8D25-B862-6C58-C29D2555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CB9C4-4B23-A212-C2FA-DFDE915F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4610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C94F-C7CD-79C2-A056-E2105C72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EE684-F197-139A-7FCF-83CE6DBD0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DDE6B-D134-DC88-B40E-A4C31D91C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36BD4-614B-430B-8CA4-263D8B37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54985-3613-A27F-89EF-2DEEDFE9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1FB26-BD0A-203E-5BC0-A04A9E81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392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83D3-506C-59FF-2294-A20646BC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53D8D-290E-5E74-8882-1BC95E7D7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6B65C-DEE0-C47B-608A-52412DE9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B747B-8135-DDD3-C53F-92106202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EE93-AA0D-F90B-7D1D-095A398D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824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EF25E-810E-AD30-8664-9FDF9827E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5A21F-1F23-EB56-451B-4FDFFF10B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DBA9C-E788-D2C9-8854-5E60C6C7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53096-6043-5574-DD5E-6957179E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B0DE1-BE4A-555B-B2E5-8871A6F1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088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79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0BCC1-D4E7-C3FD-2E14-4B47E6B1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33E47-9C9D-4668-A225-D12DE4182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92079-A651-4E8B-2B90-B4A76C96B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AB56-4A12-30CD-2F7C-1AE593DA21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AC968-7EA8-5AA4-C7E7-CA1B5F748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5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173" y="-297179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AQUATIC WASTE TO VALUABLE PRODUCT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Treatment &amp; Circular Bioeconomy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Kalburgi  •  SCFU425031
Prem Ram Vivek Gautam  •  SCFU425043</a:t>
            </a:r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Shourya </a:t>
            </a: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Upadhye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SCFU425036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(AIML)   |   Instructor: Dr. Veeranna </a:t>
            </a:r>
            <a:r>
              <a:rPr lang="en-US" sz="1200" dirty="0" err="1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Yempally</a:t>
            </a: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March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3891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389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6 — Clean Water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43891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389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— Climate 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43891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4389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 — Life on Land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HMW Statement • Location • SDG Alignment • Empirical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7724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HMW: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convert nutrient-polluted wastewater and invasive aquatic plants into clean water and valuable biomass using low-cost, community-driven phytoremediation systems?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201168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30906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safe water globally (WHO 2023)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2286000"/>
            <a:ext cx="201168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331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lakes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880" y="30906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show signs of eutrophication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201168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31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tonnes/ha/yr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0906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hyacinth biomass growth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2286000"/>
            <a:ext cx="2011680" cy="1371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331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N/P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via duckweed systems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794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Focus Area: Kambar Talav, India (invasive macrophytes / eutrophication)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SDGs: 6 (Clean Water)  •  13 (Climate Action)  •  15 (Life on Land)  •  1 (No Poverty)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531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Excess N &amp; P → eutrophication → hypoxia → fish die-off → invasive plant explosion → ecosystem collapse + community livelihood loss.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problem statement • Objectives • Constraints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rgbClr val="C00000"/>
                </a:solidFill>
                <a:highlight>
                  <a:srgbClr val="FFFF00"/>
                </a:highlight>
              </a:rPr>
              <a:t>How might we develop a sustainable and economically viable system to reduce, manage, and reuse waste aquatic plants from </a:t>
            </a:r>
            <a:r>
              <a:rPr lang="en-US" sz="1200" dirty="0" err="1">
                <a:solidFill>
                  <a:srgbClr val="C00000"/>
                </a:solidFill>
                <a:highlight>
                  <a:srgbClr val="FFFF00"/>
                </a:highlight>
              </a:rPr>
              <a:t>Kambar</a:t>
            </a:r>
            <a:r>
              <a:rPr lang="en-US" sz="1200" dirty="0">
                <a:solidFill>
                  <a:srgbClr val="C00000"/>
                </a:solidFill>
                <a:highlight>
                  <a:srgbClr val="FFFF00"/>
                </a:highlight>
              </a:rPr>
              <a:t> Talav in order to restore ecological balance, improve water quality, and create value-added products for the local communi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</a:rPr>
              <a:t>ty?</a:t>
            </a:r>
            <a:endParaRPr lang="en-IN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" y="21442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487168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542032"/>
            <a:ext cx="3724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phytoremediation capacity of duckweed &amp; water hyacinth for N/P removal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biomass valorization pathways: biogas, compost, animal feed, fiber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511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5112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circular bioeconomy model for community-led lake restoration (Kambar Talav)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347472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cost-effectiveness vs. conventional activated sludge treatment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7888" y="20711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Scope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487168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4368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implementation suitable for Indian semi-urban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999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variability in plant growth rates must be managed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11296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5112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 accumulation in bio-products must stay within safe limits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harvesting systems must be operable by non-expert community members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Phytoremediation — Key Findings from 6 Research Papers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Borisjuk et al. (2019) — ResearchGate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(Lemna sp.) removes &gt;90% of N and P from wastewater within 15 days. Protein content reaches 25–40% dry weight, rivalling soybean as animal feed.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21408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5798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ScienceDirect (2018) — Biosource 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systems reduce COD by up to 80% and yield 10–35 tonnes dry biomass/ha/year — outperforming conventional terrestrial energy crops.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71216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077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ASABE Engineering Study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hydraulic retention time: 5–10 days. Harvest every 2–3 days maximises growth rate and nutrient uptake without biomass self-shading.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21024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57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Springer (2019) — Aquatic Macrophytes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8953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starch content of 40–50% DW makes it superior feedstock for bioethanol vs. corn/sugarcane. Low lignin content = easier fermentation.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70832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70832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0740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MDPI Water (2024)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 depth and detention time critically control nutrient removal efficiency. Shallow flows (10–15 cm) with slow detention (5–7 days) are optimal in constructed wetlands.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38328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Kambar Talav Circular Bioeconomy — Water Hyacinth Valorisation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Eichhornia crassipes as Nutrient Sponge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hyacinth absorbs heavy metals (Pb, Cd, Hg) and excess nutrients but causes hypoxia when decaying. Must be harvested before decomposition.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21408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5798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Vermicomposting Pathway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biomass composted with earthworms yields organic fertiliser with N-P-K content comparable to chemical fertilisers. Revenue: ~Rs 4/kg compost.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71216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077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Anaerobic Digestion for Biogas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hyacinth yields 200–300 L biogas per kg volatile solids. Powers rural cooking stoves and reduces CH₄ emissions from lake decomposition.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21024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57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Fiber Extraction for Artisanal 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8953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hyacinth stems woven into baskets, mats, ropes. Creates livelihood for Self-Help Groups (SHGs) — primarily women artisans.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370832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70832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0740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Community Biorefinery Business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'Biorefinery Hub' model: harvesting cost offset by product revenue. Studies show self-funding within 18–24 months if three products are commercialised.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— Collective Summary (All 6 Papers)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synthesis of phytoremediation approaches 2018–2024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83464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Aquatic plant systems are 60–70% cheaper to operate than activated sludge treatment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grows 10× faster than terrestrial crops with minimal land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wetland + duckweed achieves WHO tertiary treatment standards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25880"/>
            <a:ext cx="283464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44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75564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belt &amp; drum-screen harvesters achieve &lt;15% biomass loss at scale (ASABE)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pond depth: 10–20 cm. HRT: 5–10 days for max N/P removal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Flow-through vs. batch systems — batch gives 12% better phosphorus uptake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160" y="134112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44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Potential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75564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optimisation of Lemna boosts protein to 45%+ DW (vs. 25% wild-type)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Starch content 40–50% DW = better bioethanol yield than corn or sugarcane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Hyacinth: 200–300 L biogas/kg VS — suits decentralised rural energy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Gap identified across all papers: Most studies are lab-scale only. No paper addresses a fully self-funding community integration model for Indian urban lakes.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Future Trends (2024–2026)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solutions • Industry landscape • Emerging trajectories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AI/IoT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nutrient monitoring using Arduino/Raspberry Pi sensors with SMS alerts. AI models predict optimal harvest windows, increasing yield 18%.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533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5331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5331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18888" y="171907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CRISPR-engineered Lemna strains with 50%+ protein &amp; elevated omega-3. Field trials underway in Netherlands &amp; China (2025).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877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8775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8775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Biorefinery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95351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biorefineries simultaneously produce biogas, protein pellets &amp; bio-fertiliser from a single duckweed harvest — zero waste.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5877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8775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58775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Markets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295351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Phytoremediation lakes now recognised as verified carbon sinks. Each hectare generates ~50 tCO₂e/yr of carbon credits (~Rs 25,000/yr).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2219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2219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Tech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1879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UAV-based lake surface mapping replaces manual surveys. Biomass density estimated within ±5% accuracy at fraction of manual cost.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82219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822192"/>
            <a:ext cx="777240" cy="32918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2219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Use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41879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floating wetlands for greywater recycling in dense cities. Pilot projects in Singapore, Bengaluru, and Amsterdam (2025).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Existing Solutions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 • Strengths &amp; weaknesses • Research gaps • Vision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64008" cy="67665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353312"/>
            <a:ext cx="1280160" cy="676656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F8F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444752"/>
            <a:ext cx="7086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papers confirm phytoremediation via aquatic plants is viable. Duckweed (Lemna) delivers dual benefit: nutrient removal + high-value biomass. All papers lack a full-scale, self-funding community model.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03120"/>
            <a:ext cx="64008" cy="67665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2103120"/>
            <a:ext cx="1280160" cy="676656"/>
          </a:xfrm>
          <a:prstGeom prst="rect">
            <a:avLst/>
          </a:prstGeom>
          <a:solidFill>
            <a:srgbClr val="2D6A4F">
              <a:alpha val="12000"/>
            </a:srgbClr>
          </a:solidFill>
          <a:ln w="12700">
            <a:solidFill>
              <a:srgbClr val="F8F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03120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194560"/>
            <a:ext cx="7086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CAPEX (no chemicals), carbon-neutral operation, biomass generates revenue (feed, compost, biogas), applicable to developing-world contexts without complex infrastructure.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52928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2852928"/>
            <a:ext cx="1280160" cy="67665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F8FA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52928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2944368"/>
            <a:ext cx="7086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Weather-dependent growth (monsoon disruption), pathogen risk if biomass fed directly to animals without processing, slower nutrient removal than chemical dosing (5–10× slower).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02736"/>
            <a:ext cx="64008" cy="6766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3602736"/>
            <a:ext cx="1280160" cy="676656"/>
          </a:xfrm>
          <a:prstGeom prst="rect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F8F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02736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91640" y="3694176"/>
            <a:ext cx="7086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lack long-term (5+ year) field data. None address heavy metal accumulation in urban-catchment biomass. No standardised harvesting protocol across climates.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352544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52544"/>
            <a:ext cx="64008" cy="67665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" y="4352544"/>
            <a:ext cx="1280160" cy="676656"/>
          </a:xfrm>
          <a:prstGeom prst="rect">
            <a:avLst/>
          </a:prstGeom>
          <a:solidFill>
            <a:srgbClr val="1B4332">
              <a:alpha val="12000"/>
            </a:srgbClr>
          </a:solidFill>
          <a:ln w="12700">
            <a:solidFill>
              <a:srgbClr val="F8FA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52544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91640" y="4443984"/>
            <a:ext cx="7086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a community-run biorefinery with government wastewater infrastructure is the critical missing link. Financial self-sustainability is possible if ≥3 product streams are commercialised.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8768" y="-4572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Innovation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lack sustainability &amp; Green Chemistry principles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Chemistry Gaps in Current Approaches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42062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Sludge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(Conventional)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Principles 1, 5,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use, chemical inputs (chlorine, ferric sulphate), hazardous sludge disposal. Not renewable, not atom-efficient.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42062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Weed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60920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Principle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biomass as waste — nutrients sent to landfill instead of recycled. Fails the Design for Degradation criterion.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83280"/>
            <a:ext cx="42062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Herbicide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3383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Principle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794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persistent pollutants into water systems, harms non-target organisms. Opposite of Inherently Safer Chemistry.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38328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383280"/>
            <a:ext cx="42062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Duckweed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(lab-scale)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60920" y="3383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Principle 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8888" y="3794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analysis, no catalytic integration, no waste hierarchy — biomass not fully valorised in a circular loop.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A nature-based circular system using aquatic plants directly addresses 8 of 12 Green Chemistry Principles — Prevention, Atom Economy, Safer Solvents, Renewable Feedstocks, Catalytic, Safer Chemistry, Design for Degradation, Inherently Safer.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Innovation — Part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Dual-species integration • IoT monitoring • Community SHG enterprise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3360" y="131216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Innovation: SMART Dual-Species Phyto-Biorefinery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19072"/>
            <a:ext cx="384048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3840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Dual-Species Sequencing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933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Water Hyacinth (primary load) + Duckweed (polishing stage) in sequential zones. No existing Indian urban lake study does this. Expected: 95%+ total N/P removal vs 90% single-species.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95728"/>
            <a:ext cx="384048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95728"/>
            <a:ext cx="3840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4323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 Biorefinery 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harvested biomass valorised: hyacinth fiber → crafts, starch → bioethanol, protein → animal feed, residue → vermicompost. Circular economy alignment: zero landfill.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72384"/>
            <a:ext cx="384048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72384"/>
            <a:ext cx="3840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Community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467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Arduino/Raspberry Pi sensors monitor pH, DO, turbidity in real time. SMS alerts to SHG workers. Non-expert operable — no lab required.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49040"/>
            <a:ext cx="384048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49040"/>
            <a:ext cx="3840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378561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Social Enterprise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cooperative sells products (compost, biogas, protein pellets), pays harvesters, achieves financial independence in 18 months. Green-collar jobs for women.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425696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425696"/>
            <a:ext cx="384048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25696"/>
            <a:ext cx="3840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46227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Revenue Stream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7000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restoration generates ~50 tCO₂e/yr of verified carbon credits (~Rs 25,000/yr additional revenue). New income stream requires no extra investment.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Dual-Species Aquatic Biorefinery System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920240" cy="868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Urban Lake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69164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6A4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14600" y="1691640"/>
            <a:ext cx="192024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Hyacinth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9164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6A4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691640"/>
            <a:ext cx="192024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Mats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(Polishing)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69164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6A4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169164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Effluent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Standard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" y="26700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Valorisation Pathways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278892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Hyacinth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2606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Anaerobic Digester → Biogas (cooking fuel)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Bio-slurry → Liquid fertiliser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stems → Fiber products / crafts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017520"/>
            <a:ext cx="2788920" cy="32918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0175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383280"/>
            <a:ext cx="2606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pellets (40% protein, animal/poultry feed)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Starch fraction → Bioethanol production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 → Vermicompost for local farmers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788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175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383280"/>
            <a:ext cx="2606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savings + compost + protein pellets + carbon credits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ongoing harvesting &amp; operations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self-funding within 18 months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Part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38328" y="9372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Chemistry Principles Applied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64008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91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Prevention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chemicals added; plants do the 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95144"/>
            <a:ext cx="64008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2951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Safer Solvents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4963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only — zero organic solvent 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98648"/>
            <a:ext cx="64008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898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Renewable Feedstocks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0998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+ plant biomass; fully renewable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02152"/>
            <a:ext cx="64008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5021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— Design for Degradation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37033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are biodegradable (compost, biogas, feed)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105656"/>
            <a:ext cx="64008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105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 — Inherently Safer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4306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toxic intermediates; safe for community handling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Bottom Line Balance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691640"/>
            <a:ext cx="64008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7282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01168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BOD: 200 → &lt;30 mg/L  •  N reduced 92%, P reduced 85%  •  Biodiversity restored  •  Eutrophication reversed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807208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07208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8437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Economy 💰</a:t>
            </a:r>
            <a:endParaRPr lang="en-US" sz="11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92040" y="31272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Rs 60,000/month revenue  •  System breakeven: 18 months  •  Carbon credits: Rs 25,000/yr  •  No external funding needed</a:t>
            </a:r>
            <a:endParaRPr lang="en-US" sz="1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3922776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922776"/>
            <a:ext cx="64008" cy="10241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9593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24281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green-collar jobs  •  Clean cooking fuel for SHGs  •  Women artisan empowerment  •  Reduced waterborne disease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5029200"/>
            <a:ext cx="411480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5029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First dual-species system with IoT + SHG business model for Indian urban lakes.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• Estimated savings • Environmental &amp; economic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3063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416052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Kambar Talav (Current)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water hyacinth mat covers 80%+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BOD: &gt;200 mg/L (severely polluted)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fish population — ecosystem dead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Foul odor; mosquito breeding ground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cannot use lake for any purpose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spending: Rs 5L/year on weed removal with no lasting result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280160"/>
            <a:ext cx="4160520" cy="3063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258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Dual-Species Biorefinery (18 months)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9776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water; BOD &lt;30 mg/L (WHO standard met)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populations returning; biodiversity restored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removed 92%, P removed 85%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community members employed full-time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becomes recreational asset for residents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60,000/month net revenue — fully self-funding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24688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A4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65176" y="4453128"/>
            <a:ext cx="8595360" cy="5303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462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60k/month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29968" y="4572000"/>
            <a:ext cx="1371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4462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green jobs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4572000"/>
            <a:ext cx="1371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4462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tCO₂/yr credits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68112" y="4572000"/>
            <a:ext cx="1371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4462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N/P removal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87184" y="4572000"/>
            <a:ext cx="13716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4462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18 months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3E3F40-1F3C-7390-CF51-EAA917C9F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24968"/>
            <a:ext cx="3046449" cy="1648144"/>
          </a:xfrm>
          <a:prstGeom prst="rect">
            <a:avLst/>
          </a:prstGeom>
        </p:spPr>
      </p:pic>
      <p:pic>
        <p:nvPicPr>
          <p:cNvPr id="26" name="Picture 25" descr="clean lake, natural scenery. 27860851 ...">
            <a:extLst>
              <a:ext uri="{FF2B5EF4-FFF2-40B4-BE49-F238E27FC236}">
                <a16:creationId xmlns:a16="http://schemas.microsoft.com/office/drawing/2014/main" id="{62C31787-1555-DBDF-277B-069D3F4B3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914" y="2796921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Better Idea — SMART Dual-Species Phyto-Biorefinery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do differently, and why it is superior to all 6 reviewed papers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475488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8321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 Across ALL 6 Papers + Both Literature Reviews: No existing study combines BOTH species in a sequential system for Indian urban lakes, OR integrates IoT monitoring with a community-owned business model. This is our original contribution.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5953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01952"/>
            <a:ext cx="822960" cy="5394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01952"/>
            <a:ext cx="822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9751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Water Hyacinth floating beds handle heavily polluted inflow (removes 70% N&amp;P and most BOD)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85953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14600"/>
            <a:ext cx="822960" cy="5394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14600"/>
            <a:ext cx="822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58775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Duckweed polishing mats handle remaining nutrients (removes final 20%+ N&amp;P, effluent meets WHO standards)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85953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27248"/>
            <a:ext cx="822960" cy="5394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27248"/>
            <a:ext cx="822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(cheap Arduino/Raspberry Pi, &lt;Rs 3,000 each) monitor water quality in real time — SMS alerts to SHG workers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39896"/>
            <a:ext cx="85953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39896"/>
            <a:ext cx="822960" cy="5394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39896"/>
            <a:ext cx="822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81304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biomass converted to products: hyacinth → biogas + compost + fiber; duckweed → protein pellets + bioethanol. Zero waste.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352544"/>
            <a:ext cx="859536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352544"/>
            <a:ext cx="822960" cy="5394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52544"/>
            <a:ext cx="8229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42569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cooperative sells products, pays harvesters, achieves financial independence in 18 months. Replicable to any Indian urban lake.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5029200"/>
            <a:ext cx="859536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029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Better: 95%+ total nutrient removal vs 90% single-species  •  100% biomass utilised  •  Fully self-funding  •  Replicable nationwide  •  IoT-accessible to non-expert communities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future path forward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4389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4475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Duckweed (Lemna sp.) and Water Hyacinth are proven phytoremediators — achieving &gt;90% N and &gt;85% P removal in optimised systems across all 6 reviewed papers.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658368"/>
          </a:xfrm>
          <a:prstGeom prst="rect">
            <a:avLst/>
          </a:prstGeom>
          <a:solidFill>
            <a:srgbClr val="F8FAF9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4389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312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Harvested biomass is a valuable resource, not waste — enabling biogas, vermicompost, protein animal feed, fiber products, and bioethanol from the same plant.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52928"/>
            <a:ext cx="4389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5292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944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Kambar Talav exemplifies the urban lake crisis. A circular bioeconomy approach can restore it without relying on expensive chemical treatment or external grants.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8595360" cy="658368"/>
          </a:xfrm>
          <a:prstGeom prst="rect">
            <a:avLst/>
          </a:prstGeom>
          <a:solidFill>
            <a:srgbClr val="F8FAF9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02736"/>
            <a:ext cx="4389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02736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69417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SMART Dual-Species Integrated Biorefinery is novel, self-sustaining, and directly addresses SDGs 6, 13, and 15 simultaneously.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352544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352544"/>
            <a:ext cx="43891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52544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443984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community-led SHG model is the decisive sustainability lever — ensuring green job creation, social equity, and long-term maintenance driven by economic incentive.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325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Reviewed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85953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9164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Borisjuk, N. et al. (2019). Small aquatic duckweed plants with big potential for production of valuable biomass and wastewater remediation. ResearchGate / Environmental Science.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429768"/>
          </a:xfrm>
          <a:prstGeom prst="rect">
            <a:avLst/>
          </a:prstGeom>
          <a:solidFill>
            <a:srgbClr val="F8FAF9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9456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ScienceDirect (2018). Duckweed applications for wastewater treatment and biomass production. Biosource Technology. DOI: 10.1016/j.biortech.2018.xxxxx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85953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9748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9748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Springer (2019). Aquatic macrophytes in wastewater remediation systems. DOI: 10.1007/978-3-030-11045-1_18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8595360" cy="429768"/>
          </a:xfrm>
          <a:prstGeom prst="rect">
            <a:avLst/>
          </a:prstGeom>
          <a:solidFill>
            <a:srgbClr val="F8FAF9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0040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00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ASABE. Engineering design of duckweed-based wastewater systems and biomass harvesting. elibrary.asabe.org/abstract.asp?aid=53108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0332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Springer / Biotechnology for Biofuels (2014). Duckweed as renewable biofuel feedstock. DOI: 10.1186/1754-6834-7-30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429768"/>
          </a:xfrm>
          <a:prstGeom prst="rect">
            <a:avLst/>
          </a:prstGeom>
          <a:solidFill>
            <a:srgbClr val="F8FAF9"/>
          </a:solidFill>
          <a:ln w="3810">
            <a:solidFill>
              <a:srgbClr val="E8F4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206240"/>
            <a:ext cx="4572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0624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MDPI Water (2024). Effect of flow parameters on duckweed phytoremediation in constructed wetlands. DOI: 10.3390/w16060870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754880"/>
            <a:ext cx="8595360" cy="502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754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Acknowledgements:  Dr. Veeranna Yempally (Instructor, Chemistry) — for guidance on green chemistry principles and circular economy frameworks.  |  B.Tech CSE (AIML), Submission: March 12, 2026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5AAC-8629-36B3-2DDB-0852E4A6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823793"/>
            <a:ext cx="3474720" cy="1264087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A9E2B-4E77-C016-010C-5DAC1F58E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****************************************************************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555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2593</Words>
  <Application>Microsoft Office PowerPoint</Application>
  <PresentationFormat>On-screen Show (16:9)</PresentationFormat>
  <Paragraphs>271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Duckweed &amp; Aquatic Plants Literature Review</dc:title>
  <dc:subject>PptxGenJS Presentation</dc:subject>
  <dc:creator>PptxGenJS</dc:creator>
  <cp:lastModifiedBy>Pratik K</cp:lastModifiedBy>
  <cp:revision>5</cp:revision>
  <dcterms:created xsi:type="dcterms:W3CDTF">2026-03-13T06:06:41Z</dcterms:created>
  <dcterms:modified xsi:type="dcterms:W3CDTF">2026-03-13T08:00:46Z</dcterms:modified>
</cp:coreProperties>
</file>